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926080" cy="411480"/>
          </a:xfrm>
          <a:prstGeom prst="roundRect">
            <a:avLst/>
          </a:prstGeom>
          <a:solidFill>
            <a:srgbClr val="1A2438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9900"/>
                </a:solidFill>
              </a:defRPr>
            </a:pPr>
            <a:r>
              <a:t>☁️ AWS ENTERPRISE CLOUD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1F5F9"/>
                </a:solidFill>
              </a:defRPr>
            </a:pPr>
            <a:r>
              <a:t>Multipurpose Supply Chain</a:t>
            </a:r>
            <a:br/>
            <a:r>
              <a:t>Management Platform</a:t>
            </a:r>
          </a:p>
          <a:p>
            <a:br/>
            <a:pPr>
              <a:defRPr sz="1800">
                <a:solidFill>
                  <a:srgbClr val="22D3EE"/>
                </a:solidFill>
              </a:defRPr>
            </a:pPr>
            <a:r>
              <a:t>Event-Driven Cloud Architecture with Amazon DynamoDB, SQS, SNS, S3 &amp; IoT 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3383280" cy="1371600"/>
          </a:xfrm>
          <a:prstGeom prst="roundRect">
            <a:avLst/>
          </a:prstGeom>
          <a:solidFill>
            <a:srgbClr val="1A2438"/>
          </a:solidFill>
          <a:ln>
            <a:solidFill>
              <a:srgbClr val="1A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9900"/>
                </a:solidFill>
              </a:defRPr>
            </a:pPr>
            <a:r>
              <a:t>NoSQL DynamoDB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High-throughput, sub-10ms stock ledgers across global hubs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4754880"/>
            <a:ext cx="3383280" cy="1371600"/>
          </a:xfrm>
          <a:prstGeom prst="roundRect">
            <a:avLst/>
          </a:prstGeom>
          <a:solidFill>
            <a:srgbClr val="1A2438"/>
          </a:solidFill>
          <a:ln>
            <a:solidFill>
              <a:srgbClr val="1A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9900"/>
                </a:solidFill>
              </a:defRPr>
            </a:pPr>
            <a:r>
              <a:t>Asynchronous SQS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Decoupled order pipeline with DLQ zero-loss guarantees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4754880"/>
            <a:ext cx="3383280" cy="1371600"/>
          </a:xfrm>
          <a:prstGeom prst="roundRect">
            <a:avLst/>
          </a:prstGeom>
          <a:solidFill>
            <a:srgbClr val="1A2438"/>
          </a:solidFill>
          <a:ln>
            <a:solidFill>
              <a:srgbClr val="1A2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9900"/>
                </a:solidFill>
              </a:defRPr>
            </a:pPr>
            <a:r>
              <a:t>IoT Cold-Chain Stream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Real-time sensor telemetry &amp; automated SNS breach alerts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AWS CLOUD SUPPLY CHAIN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Business Challenges &amp; Multipurpose Architecture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A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3F5E"/>
                </a:solidFill>
              </a:defRPr>
            </a:pPr>
            <a:r>
              <a:t>🚨 Traditional Supply Chain Pain Points</a:t>
            </a:r>
          </a:p>
          <a:p>
            <a:br/>
            <a:pPr>
              <a:defRPr sz="1200" b="1">
                <a:solidFill>
                  <a:srgbClr val="F1F5F9"/>
                </a:solidFill>
              </a:defRPr>
            </a:pPr>
            <a:r>
              <a:t>• Traffic Spike Bottlenecks: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Synchronous database writes drop orders during peak demand spikes.</a:t>
            </a:r>
          </a:p>
          <a:p>
            <a:br/>
            <a:pPr>
              <a:defRPr sz="1200" b="1">
                <a:solidFill>
                  <a:srgbClr val="F1F5F9"/>
                </a:solidFill>
              </a:defRPr>
            </a:pPr>
            <a:r>
              <a:t>• Cold-Chain Spoiled Goods: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Lack of live IoT alerts causes millions in spoiled vaccines and biologics.</a:t>
            </a:r>
          </a:p>
          <a:p>
            <a:br/>
            <a:pPr>
              <a:defRPr sz="1200" b="1">
                <a:solidFill>
                  <a:srgbClr val="F1F5F9"/>
                </a:solidFill>
              </a:defRPr>
            </a:pPr>
            <a:r>
              <a:t>• Multi-Facility Blind Spots: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Siloed inventory records lead to stockouts and safety stock miscalculations.</a:t>
            </a:r>
          </a:p>
          <a:p>
            <a:br/>
            <a:pPr>
              <a:defRPr sz="1200" b="1">
                <a:solidFill>
                  <a:srgbClr val="F1F5F9"/>
                </a:solidFill>
              </a:defRPr>
            </a:pPr>
            <a:r>
              <a:t>• Supplier Governance Lags: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Untracked vendor lead times disrupt mission-critical manufacturing.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A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🎯 Multipurpose Industry Sectors Handled</a:t>
            </a:r>
          </a:p>
          <a:p>
            <a:br/>
            <a:pPr>
              <a:defRPr sz="1200" b="1">
                <a:solidFill>
                  <a:srgbClr val="F1F5F9"/>
                </a:solidFill>
              </a:defRPr>
            </a:pPr>
            <a:r>
              <a:t>✔ Pharmaceutical Cold-Chain: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Strict temperature monitoring (2°C - 8°C), cryogenic storage, and automated breach notifications.</a:t>
            </a:r>
          </a:p>
          <a:p>
            <a:br/>
            <a:pPr>
              <a:defRPr sz="1200" b="1">
                <a:solidFill>
                  <a:srgbClr val="F1F5F9"/>
                </a:solidFill>
              </a:defRPr>
            </a:pPr>
            <a:r>
              <a:t>✔ High-Tech Electronics: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ESD cleanroom warehousing, serial tracking for automotive AI chips, and rapid transit.</a:t>
            </a:r>
          </a:p>
          <a:p>
            <a:br/>
            <a:pPr>
              <a:defRPr sz="1200" b="1">
                <a:solidFill>
                  <a:srgbClr val="F1F5F9"/>
                </a:solidFill>
              </a:defRPr>
            </a:pPr>
            <a:r>
              <a:t>✔ Industrial Machinery: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Heavy components, robotic servo motors, and purchase order approval workflows.</a:t>
            </a:r>
          </a:p>
          <a:p>
            <a:br/>
            <a:pPr>
              <a:defRPr sz="1200" b="1">
                <a:solidFill>
                  <a:srgbClr val="F1F5F9"/>
                </a:solidFill>
              </a:defRPr>
            </a:pPr>
            <a:r>
              <a:t>✔ Biotechnology Assays: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Diagnostic PCR reagents, enzyme viability tracking, and batch lot traceability.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AWS CLOUD SUPPLY CHAIN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Enterprise AWS Cloud Architecture Mappings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219456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9900"/>
                </a:solidFill>
              </a:defRPr>
            </a:pPr>
            <a:r>
              <a:t>Amazon DynamoDB</a:t>
            </a:r>
          </a:p>
          <a:p>
            <a:pPr>
              <a:defRPr sz="900" b="1">
                <a:solidFill>
                  <a:srgbClr val="94A3B8"/>
                </a:solidFill>
              </a:defRPr>
            </a:pPr>
            <a:r>
              <a:t>NOSQL OPERATIONAL STORE</a:t>
            </a:r>
          </a:p>
          <a:p>
            <a:br/>
            <a:pPr>
              <a:defRPr sz="1050">
                <a:solidFill>
                  <a:srgbClr val="F1F5F9"/>
                </a:solidFill>
              </a:defRPr>
            </a:pPr>
            <a:r>
              <a:t>Low-latency schema for Warehouses, Orders, Shipments, and Time-series Telemetry. Supports GSIs and automated TTL.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383280" cy="219456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2D3EE"/>
                </a:solidFill>
              </a:defRPr>
            </a:pPr>
            <a:r>
              <a:t>Amazon SQS</a:t>
            </a:r>
          </a:p>
          <a:p>
            <a:pPr>
              <a:defRPr sz="900" b="1">
                <a:solidFill>
                  <a:srgbClr val="94A3B8"/>
                </a:solidFill>
              </a:defRPr>
            </a:pPr>
            <a:r>
              <a:t>DECOUPLED ORDER QUEUE</a:t>
            </a:r>
          </a:p>
          <a:p>
            <a:br/>
            <a:pPr>
              <a:defRPr sz="1050">
                <a:solidFill>
                  <a:srgbClr val="F1F5F9"/>
                </a:solidFill>
              </a:defRPr>
            </a:pPr>
            <a:r>
              <a:t>Buffers incoming customer orders. Employs Dead-Letter Queue (DLQ) with maxReceiveCount=3 to isolate poison messages.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554480"/>
            <a:ext cx="3383280" cy="219456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Amazon SNS</a:t>
            </a:r>
          </a:p>
          <a:p>
            <a:pPr>
              <a:defRPr sz="900" b="1">
                <a:solidFill>
                  <a:srgbClr val="94A3B8"/>
                </a:solidFill>
              </a:defRPr>
            </a:pPr>
            <a:r>
              <a:t>PUB/SUB BROADCAST TOPIC</a:t>
            </a:r>
          </a:p>
          <a:p>
            <a:br/>
            <a:pPr>
              <a:defRPr sz="1050">
                <a:solidFill>
                  <a:srgbClr val="F1F5F9"/>
                </a:solidFill>
              </a:defRPr>
            </a:pPr>
            <a:r>
              <a:t>Dispatches instant alerts for temperature violations (&gt;8°C), road shock damage, and inventory reorder point breaches.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3383280" cy="219456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Amazon S3</a:t>
            </a:r>
          </a:p>
          <a:p>
            <a:pPr>
              <a:defRPr sz="900" b="1">
                <a:solidFill>
                  <a:srgbClr val="94A3B8"/>
                </a:solidFill>
              </a:defRPr>
            </a:pPr>
            <a:r>
              <a:t>SECURE DOCUMENT LAKE</a:t>
            </a:r>
          </a:p>
          <a:p>
            <a:br/>
            <a:pPr>
              <a:defRPr sz="1050">
                <a:solidFill>
                  <a:srgbClr val="F1F5F9"/>
                </a:solidFill>
              </a:defRPr>
            </a:pPr>
            <a:r>
              <a:t>Stores immutable digital invoices, bills of lading, and delivery signatures with AES-256 encryption and versioning.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977639"/>
            <a:ext cx="3383280" cy="219456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AWS IoT Core</a:t>
            </a:r>
          </a:p>
          <a:p>
            <a:pPr>
              <a:defRPr sz="900" b="1">
                <a:solidFill>
                  <a:srgbClr val="94A3B8"/>
                </a:solidFill>
              </a:defRPr>
            </a:pPr>
            <a:r>
              <a:t>TELEMETRY RULES ENGINE</a:t>
            </a:r>
          </a:p>
          <a:p>
            <a:br/>
            <a:pPr>
              <a:defRPr sz="1050">
                <a:solidFill>
                  <a:srgbClr val="F1F5F9"/>
                </a:solidFill>
              </a:defRPr>
            </a:pPr>
            <a:r>
              <a:t>Ingests live vehicle sensor metrics (temp, humidity, shock, GPS, battery) and forwards directly to DynamoDB.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977639"/>
            <a:ext cx="3383280" cy="219456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Serverless Lambda</a:t>
            </a:r>
          </a:p>
          <a:p>
            <a:pPr>
              <a:defRPr sz="900" b="1">
                <a:solidFill>
                  <a:srgbClr val="94A3B8"/>
                </a:solidFill>
              </a:defRPr>
            </a:pPr>
            <a:r>
              <a:t>EVENT-DRIVEN PROCESSING</a:t>
            </a:r>
          </a:p>
          <a:p>
            <a:br/>
            <a:pPr>
              <a:defRPr sz="1050">
                <a:solidFill>
                  <a:srgbClr val="F1F5F9"/>
                </a:solidFill>
              </a:defRPr>
            </a:pPr>
            <a:r>
              <a:t>Consumes SQS batches, updates fulfillment states, and calculates inventory safety stock deductions.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AWS CLOUD SUPPLY CHAIN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Core Functional Modules in the SCM Control Tower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2240280"/>
          </a:xfrm>
          <a:prstGeom prst="roundRect">
            <a:avLst/>
          </a:prstGeom>
          <a:solidFill>
            <a:srgbClr val="1A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9900"/>
                </a:solidFill>
              </a:defRPr>
            </a:pPr>
            <a:r>
              <a:t>1. Multi-Hub Warehouse (WMS)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Real-time stock ledger across Chicago, Boston, and Frankfurt facilities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Automatic safety stock calculations and low-inventory warnings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Storage categorization (Ultra-Cold, ESD Cleanroom, Ambient)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212080" cy="2240280"/>
          </a:xfrm>
          <a:prstGeom prst="roundRect">
            <a:avLst/>
          </a:prstGeom>
          <a:solidFill>
            <a:srgbClr val="1A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9900"/>
                </a:solidFill>
              </a:defRPr>
            </a:pPr>
            <a:r>
              <a:t>2. Asynchronous Order Pipeline (OMS)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Customer orders queued directly to Amazon SQS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Fulfillment worker polling and state updates: QUEUED ➔ PROCESSING ➔ DISPATCHED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Automated generation of digital PDF/JSON invoices archived to S3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212080" cy="2240280"/>
          </a:xfrm>
          <a:prstGeom prst="roundRect">
            <a:avLst/>
          </a:prstGeom>
          <a:solidFill>
            <a:srgbClr val="1A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9900"/>
                </a:solidFill>
              </a:defRPr>
            </a:pPr>
            <a:r>
              <a:t>3. Fleet Logistics &amp; IoT Tracking (TMS)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Highway route simulation with live waypoint updates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Environmental sensors: Temperature (°C), Humidity (%), Shock (G), Battery (%)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Automated threshold evaluation triggering instant SMS/Email via SNS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77639"/>
            <a:ext cx="5212080" cy="2240280"/>
          </a:xfrm>
          <a:prstGeom prst="roundRect">
            <a:avLst/>
          </a:prstGeom>
          <a:solidFill>
            <a:srgbClr val="1A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9900"/>
                </a:solidFill>
              </a:defRPr>
            </a:pPr>
            <a:r>
              <a:t>4. Supplier Procurement (SRM)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Comprehensive vendor master database with reliability rates (98%+)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Lead time monitoring (days) and purchase contract management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• Verified vendor performance ratings and compliance 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INFRASTRUCTURE AS CODE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Cloud Security, Privacy &amp; Terraform Infrastructure as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188720"/>
          </a:xfrm>
          <a:prstGeom prst="roundRect">
            <a:avLst/>
          </a:prstGeom>
          <a:solidFill>
            <a:srgbClr val="1A2438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9900"/>
                </a:solidFill>
              </a:defRPr>
            </a:pPr>
            <a:r>
              <a:t>🔒 Does Terraform Code &amp; Deployment Commands Need to Be Private?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NO. Declarative Terraform resource definitions (HCL) and CLI instructions (terraform apply) are public architectural blueprints. What MUST be private are credentials, secret keys, and runtime state files — all of which are strictly isolated.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3383280" cy="3474720"/>
          </a:xfrm>
          <a:prstGeom prst="roundRect">
            <a:avLst/>
          </a:prstGeom>
          <a:solidFill>
            <a:srgbClr val="1A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2D3EE"/>
                </a:solidFill>
              </a:defRPr>
            </a:pPr>
            <a:r>
              <a:t>1. Strict Secret Protection</a:t>
            </a:r>
          </a:p>
          <a:p>
            <a:br/>
            <a:pPr>
              <a:defRPr sz="1100">
                <a:solidFill>
                  <a:srgbClr val="F1F5F9"/>
                </a:solidFill>
              </a:defRPr>
            </a:pPr>
            <a:r>
              <a:t>• .gitignore isolates all .env, *.tfstate, and *.tfvars files</a:t>
            </a:r>
          </a:p>
          <a:p>
            <a:br/>
            <a:pPr>
              <a:defRPr sz="1100">
                <a:solidFill>
                  <a:srgbClr val="F1F5F9"/>
                </a:solidFill>
              </a:defRPr>
            </a:pPr>
            <a:r>
              <a:t>• Zero AWS Access Keys or secrets hardcoded in Git</a:t>
            </a:r>
          </a:p>
          <a:p>
            <a:br/>
            <a:pPr>
              <a:defRPr sz="1100">
                <a:solidFill>
                  <a:srgbClr val="F1F5F9"/>
                </a:solidFill>
              </a:defRPr>
            </a:pPr>
            <a:r>
              <a:t>• Anyone running code uses their own local AWS profile credentials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834640"/>
            <a:ext cx="3383280" cy="3474720"/>
          </a:xfrm>
          <a:prstGeom prst="roundRect">
            <a:avLst/>
          </a:prstGeom>
          <a:solidFill>
            <a:srgbClr val="1A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2D3EE"/>
                </a:solidFill>
              </a:defRPr>
            </a:pPr>
            <a:r>
              <a:t>2. Least-Privilege IAM</a:t>
            </a:r>
          </a:p>
          <a:p>
            <a:br/>
            <a:pPr>
              <a:defRPr sz="1100">
                <a:solidFill>
                  <a:srgbClr val="F1F5F9"/>
                </a:solidFill>
              </a:defRPr>
            </a:pPr>
            <a:r>
              <a:t>• Lambda execution roles scoped strictly to specific SQS &amp; DynamoDB ARNs</a:t>
            </a:r>
          </a:p>
          <a:p>
            <a:br/>
            <a:pPr>
              <a:defRPr sz="1100">
                <a:solidFill>
                  <a:srgbClr val="F1F5F9"/>
                </a:solidFill>
              </a:defRPr>
            </a:pPr>
            <a:r>
              <a:t>• S3 Bucket Public Access Block enabled to prevent data exposure</a:t>
            </a:r>
          </a:p>
          <a:p>
            <a:br/>
            <a:pPr>
              <a:defRPr sz="1100">
                <a:solidFill>
                  <a:srgbClr val="F1F5F9"/>
                </a:solidFill>
              </a:defRPr>
            </a:pPr>
            <a:r>
              <a:t>• Server-side encryption enabled by default (SSE-S3 AES-256)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2834640"/>
            <a:ext cx="3383280" cy="3474720"/>
          </a:xfrm>
          <a:prstGeom prst="roundRect">
            <a:avLst/>
          </a:prstGeom>
          <a:solidFill>
            <a:srgbClr val="1A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2D3EE"/>
                </a:solidFill>
              </a:defRPr>
            </a:pPr>
            <a:r>
              <a:t>3. Automated CI/CD</a:t>
            </a:r>
          </a:p>
          <a:p>
            <a:br/>
            <a:pPr>
              <a:defRPr sz="1100">
                <a:solidFill>
                  <a:srgbClr val="F1F5F9"/>
                </a:solidFill>
              </a:defRPr>
            </a:pPr>
            <a:r>
              <a:t>• GitHub Actions runs terraform fmt &amp; syntax validation on every push</a:t>
            </a:r>
          </a:p>
          <a:p>
            <a:br/>
            <a:pPr>
              <a:defRPr sz="1100">
                <a:solidFill>
                  <a:srgbClr val="F1F5F9"/>
                </a:solidFill>
              </a:defRPr>
            </a:pPr>
            <a:r>
              <a:t>• Automated builds for both backend API and React frontend</a:t>
            </a:r>
          </a:p>
          <a:p>
            <a:br/>
            <a:pPr>
              <a:defRPr sz="1100">
                <a:solidFill>
                  <a:srgbClr val="F1F5F9"/>
                </a:solidFill>
              </a:defRPr>
            </a:pPr>
            <a:r>
              <a:t>• Zero-downtime static deployment to GitHub Pages CDN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RESULTS &amp; HORIZONS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Project Deliverables, Live Demo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A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4D399"/>
                </a:solidFill>
              </a:defRPr>
            </a:pPr>
            <a:r>
              <a:t>📈 Key Engineering Deliverables</a:t>
            </a:r>
          </a:p>
          <a:p>
            <a:br/>
            <a:pPr>
              <a:defRPr sz="1150" b="1">
                <a:solidFill>
                  <a:srgbClr val="F1F5F9"/>
                </a:solidFill>
              </a:defRPr>
            </a:pPr>
            <a:r>
              <a:t>✔ Full-Stack Architecture: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 Node.js/Express backend + React/Vite/Tailwind frontend.</a:t>
            </a:r>
          </a:p>
          <a:p>
            <a:br/>
            <a:pPr>
              <a:defRPr sz="1150" b="1">
                <a:solidFill>
                  <a:srgbClr val="F1F5F9"/>
                </a:solidFill>
              </a:defRPr>
            </a:pPr>
            <a:r>
              <a:t>✔ Hybrid Cloud SDK: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 Supports live AWS Cloud Services &amp; seamless in-memory simulator.</a:t>
            </a:r>
          </a:p>
          <a:p>
            <a:br/>
            <a:pPr>
              <a:defRPr sz="1150" b="1">
                <a:solidFill>
                  <a:srgbClr val="F1F5F9"/>
                </a:solidFill>
              </a:defRPr>
            </a:pPr>
            <a:r>
              <a:t>✔ Live GitHub Deployment: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 Accessible publicly on GitHub Pages.</a:t>
            </a:r>
          </a:p>
          <a:p>
            <a:br/>
            <a:pPr>
              <a:defRPr sz="1150" b="1">
                <a:solidFill>
                  <a:srgbClr val="F1F5F9"/>
                </a:solidFill>
              </a:defRPr>
            </a:pPr>
            <a:r>
              <a:t>✔ Interactive Sensor Streams: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 Real-time telemetry generator simulating trucks on transit routes.</a:t>
            </a:r>
          </a:p>
          <a:p>
            <a:br/>
            <a:pPr>
              <a:defRPr sz="1150" b="1">
                <a:solidFill>
                  <a:srgbClr val="F1F5F9"/>
                </a:solidFill>
              </a:defRPr>
            </a:pPr>
            <a:r>
              <a:t>✔ Git Milestone Commits: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 Modular commits on main tracking every build step.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A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9900"/>
                </a:solidFill>
              </a:defRPr>
            </a:pPr>
            <a:r>
              <a:t>🚀 Access Links &amp; Next Roadmap</a:t>
            </a:r>
          </a:p>
          <a:p>
            <a:br/>
            <a:pPr>
              <a:defRPr sz="1100" b="1">
                <a:solidFill>
                  <a:srgbClr val="22D3EE"/>
                </a:solidFill>
              </a:defRPr>
            </a:pPr>
            <a:r>
              <a:t>🔗 Live GitHub Pages Demo:</a:t>
            </a:r>
            <a:br/>
            <a:r>
              <a:t>https://deoid.github.io/Multipurpose_Supply_Chain_Management/</a:t>
            </a:r>
          </a:p>
          <a:p>
            <a:br/>
            <a:pPr>
              <a:defRPr sz="1100" b="1">
                <a:solidFill>
                  <a:srgbClr val="F1F5F9"/>
                </a:solidFill>
              </a:defRPr>
            </a:pPr>
            <a:r>
              <a:t>📂 GitHub Source Code Repository:</a:t>
            </a:r>
            <a:br/>
            <a:r>
              <a:t>https://github.com/Deoid/Multipurpose_Supply_Chain_Management</a:t>
            </a:r>
          </a:p>
          <a:p>
            <a:br/>
            <a:pPr>
              <a:defRPr sz="1200" b="1">
                <a:solidFill>
                  <a:srgbClr val="FF9900"/>
                </a:solidFill>
              </a:defRPr>
            </a:pPr>
            <a:r>
              <a:t>🔮 Next Evolution Steps: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• AWS SageMaker ML models for predictive demand forecasting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• Amazon QuickSight executive business intelligence dashboards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• Multi-region active-active disaster recovery failover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